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4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F623F7-5E62-4429-A2EE-32085CAA43B3}" v="137" dt="2026-10-19T11:58:07.3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7.xml" Id="rId8" /><Relationship Type="http://schemas.openxmlformats.org/officeDocument/2006/relationships/theme" Target="theme/theme1.xml" Id="rId13" /><Relationship Type="http://schemas.openxmlformats.org/officeDocument/2006/relationships/slide" Target="slides/slide2.xml" Id="rId3" /><Relationship Type="http://schemas.openxmlformats.org/officeDocument/2006/relationships/slide" Target="slides/slide6.xml" Id="rId7" /><Relationship Type="http://schemas.openxmlformats.org/officeDocument/2006/relationships/viewProps" Target="viewProps.xml" Id="rId12" /><Relationship Type="http://schemas.openxmlformats.org/officeDocument/2006/relationships/slide" Target="slides/slide1.xml" Id="rId2" /><Relationship Type="http://schemas.microsoft.com/office/2015/10/relationships/revisionInfo" Target="revisionInfo.xml" Id="rId16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presProps" Target="presProps.xml" Id="rId11" /><Relationship Type="http://schemas.openxmlformats.org/officeDocument/2006/relationships/slide" Target="slides/slide4.xml" Id="rId5" /><Relationship Type="http://schemas.openxmlformats.org/officeDocument/2006/relationships/slide" Target="slides/slide9.xml" Id="rId10" /><Relationship Type="http://schemas.openxmlformats.org/officeDocument/2006/relationships/slide" Target="slides/slide3.xml" Id="rId4" /><Relationship Type="http://schemas.openxmlformats.org/officeDocument/2006/relationships/slide" Target="slides/slide8.xml" Id="rId9" /><Relationship Type="http://schemas.openxmlformats.org/officeDocument/2006/relationships/tableStyles" Target="tableStyles.xml" Id="rId14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E6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3232" y="695724"/>
            <a:ext cx="905256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latin typeface="Aptos"/>
              </a:rPr>
              <a:t>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576072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172A3A"/>
                </a:solidFill>
                <a:latin typeface="Aptos Display"/>
              </a:rPr>
              <a:t>Книжная
полка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3337560"/>
            <a:ext cx="5852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C5E73"/>
                </a:solidFill>
                <a:latin typeface="Aptos"/>
              </a:rPr>
              <a:t>Простой веб-сайт с базой данных SQLite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977639"/>
            <a:ext cx="5212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72A3A"/>
                </a:solidFill>
                <a:latin typeface="Aptos"/>
              </a:rPr>
              <a:t>Каталог книг: просмотр, поиск, добавление и удаление записей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623560"/>
            <a:ext cx="4389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 i="0" dirty="0" err="1">
                <a:solidFill>
                  <a:srgbClr val="687884"/>
                </a:solidFill>
                <a:latin typeface="Aptos"/>
              </a:rPr>
              <a:t>Выполнил</a:t>
            </a:r>
            <a:r>
              <a:rPr lang="en-US" sz="1200" dirty="0">
                <a:solidFill>
                  <a:srgbClr val="687884"/>
                </a:solidFill>
                <a:latin typeface="Aptos"/>
              </a:rPr>
              <a:t>:</a:t>
            </a:r>
            <a:r>
              <a:rPr lang="en-US" sz="1200" b="0" i="0" dirty="0">
                <a:solidFill>
                  <a:srgbClr val="687884"/>
                </a:solidFill>
                <a:latin typeface="Aptos"/>
              </a:rPr>
              <a:t> </a:t>
            </a:r>
            <a:r>
              <a:rPr lang="en-US" sz="1200" dirty="0" err="1">
                <a:solidFill>
                  <a:srgbClr val="687884"/>
                </a:solidFill>
                <a:latin typeface="Aptos"/>
              </a:rPr>
              <a:t>Майстрак</a:t>
            </a:r>
            <a:r>
              <a:rPr lang="en-US" sz="1200" dirty="0">
                <a:solidFill>
                  <a:srgbClr val="687884"/>
                </a:solidFill>
                <a:latin typeface="Aptos"/>
              </a:rPr>
              <a:t> </a:t>
            </a:r>
            <a:r>
              <a:rPr lang="en-US" sz="1200" dirty="0" err="1">
                <a:solidFill>
                  <a:srgbClr val="687884"/>
                </a:solidFill>
                <a:latin typeface="Aptos"/>
              </a:rPr>
              <a:t>Глеб</a:t>
            </a:r>
            <a:r>
              <a:rPr sz="1200" b="0" i="0" dirty="0">
                <a:solidFill>
                  <a:srgbClr val="687884"/>
                </a:solidFill>
                <a:latin typeface="Aptos"/>
              </a:rPr>
              <a:t>
</a:t>
            </a:r>
            <a:r>
              <a:rPr sz="1200" b="0" i="0" dirty="0" err="1">
                <a:solidFill>
                  <a:srgbClr val="687884"/>
                </a:solidFill>
                <a:latin typeface="Aptos"/>
              </a:rPr>
              <a:t>Группа</a:t>
            </a:r>
            <a:r>
              <a:rPr sz="1200" b="0" i="0" dirty="0">
                <a:solidFill>
                  <a:srgbClr val="687884"/>
                </a:solidFill>
                <a:latin typeface="Aptos"/>
              </a:rPr>
              <a:t>: </a:t>
            </a:r>
            <a:r>
              <a:rPr lang="az-Cyrl-AZ" sz="1200" dirty="0">
                <a:solidFill>
                  <a:srgbClr val="687884"/>
                </a:solidFill>
                <a:latin typeface="Aptos"/>
              </a:rPr>
              <a:t>ИСИП 25-11 1</a:t>
            </a:r>
            <a:endParaRPr sz="1200" b="0" i="0" dirty="0">
              <a:solidFill>
                <a:srgbClr val="687884"/>
              </a:solidFill>
              <a:latin typeface="Apto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79" y="2103120"/>
            <a:ext cx="1143000" cy="2971800"/>
          </a:xfrm>
          <a:prstGeom prst="rect">
            <a:avLst/>
          </a:prstGeom>
          <a:solidFill>
            <a:srgbClr val="D77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732520" y="1554480"/>
            <a:ext cx="1417320" cy="3520440"/>
          </a:xfrm>
          <a:prstGeom prst="rect">
            <a:avLst/>
          </a:prstGeom>
          <a:solidFill>
            <a:srgbClr val="2C5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241280" y="1874519"/>
            <a:ext cx="1005840" cy="3200400"/>
          </a:xfrm>
          <a:prstGeom prst="rect">
            <a:avLst/>
          </a:prstGeom>
          <a:solidFill>
            <a:srgbClr val="F6D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35240" y="2359152"/>
            <a:ext cx="868680" cy="54864"/>
          </a:xfrm>
          <a:prstGeom prst="rect">
            <a:avLst/>
          </a:prstGeom>
          <a:solidFill>
            <a:srgbClr val="F5E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35240" y="4645152"/>
            <a:ext cx="868680" cy="54864"/>
          </a:xfrm>
          <a:prstGeom prst="rect">
            <a:avLst/>
          </a:prstGeom>
          <a:solidFill>
            <a:srgbClr val="F5E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15400" y="1828800"/>
            <a:ext cx="1051560" cy="64008"/>
          </a:xfrm>
          <a:prstGeom prst="rect">
            <a:avLst/>
          </a:prstGeom>
          <a:solidFill>
            <a:srgbClr val="CD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15400" y="4736592"/>
            <a:ext cx="1051560" cy="64008"/>
          </a:xfrm>
          <a:prstGeom prst="rect">
            <a:avLst/>
          </a:prstGeom>
          <a:solidFill>
            <a:srgbClr val="CD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360152" y="2176272"/>
            <a:ext cx="768096" cy="64008"/>
          </a:xfrm>
          <a:prstGeom prst="rect">
            <a:avLst/>
          </a:prstGeom>
          <a:solidFill>
            <a:srgbClr val="7B6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360152" y="4681728"/>
            <a:ext cx="768096" cy="64008"/>
          </a:xfrm>
          <a:prstGeom prst="rect">
            <a:avLst/>
          </a:prstGeom>
          <a:solidFill>
            <a:srgbClr val="7B6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87968" y="2880360"/>
            <a:ext cx="11155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SQLite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4968" y="3063240"/>
            <a:ext cx="6583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WEB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9296" y="30175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72A3A"/>
                </a:solidFill>
                <a:latin typeface="Aptos"/>
              </a:rPr>
              <a:t>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C5E73"/>
                </a:solidFill>
                <a:latin typeface="Aptos"/>
              </a:rPr>
              <a:t>01 / ИДЕЯ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2A3A"/>
                </a:solidFill>
                <a:latin typeface="Aptos Display"/>
              </a:rPr>
              <a:t>Зачем нужен этот сайт?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5212080" cy="3566160"/>
          </a:xfrm>
          <a:prstGeom prst="roundRect">
            <a:avLst/>
          </a:prstGeom>
          <a:solidFill>
            <a:srgbClr val="FFFEFA"/>
          </a:solidFill>
          <a:ln>
            <a:solidFill>
              <a:srgbClr val="E2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72200" y="1965960"/>
            <a:ext cx="5349240" cy="3566160"/>
          </a:xfrm>
          <a:prstGeom prst="roundRect">
            <a:avLst/>
          </a:prstGeom>
          <a:solidFill>
            <a:srgbClr val="CD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30428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7795C"/>
                </a:solidFill>
                <a:latin typeface="Aptos"/>
              </a:rPr>
              <a:t>ПРОБЛЕМА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97480"/>
            <a:ext cx="4343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72A3A"/>
                </a:solidFill>
                <a:latin typeface="Aptos Display"/>
              </a:rPr>
              <a:t>Список книг неудобно
вести вручную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977639"/>
            <a:ext cx="4389120" cy="1280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687884"/>
                </a:solidFill>
                <a:latin typeface="Aptos"/>
              </a:defRPr>
            </a:pPr>
            <a:r>
              <a:t>•  Нужны единый список и быстрый поиск.</a:t>
            </a:r>
          </a:p>
          <a:p>
            <a:pPr>
              <a:spcAft>
                <a:spcPts val="1200"/>
              </a:spcAft>
              <a:defRPr sz="1500">
                <a:solidFill>
                  <a:srgbClr val="687884"/>
                </a:solidFill>
                <a:latin typeface="Aptos"/>
              </a:defRPr>
            </a:pPr>
            <a:r>
              <a:t>•  Новые книги должны сохраняться, а не пропадать после закрытия страницы.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3042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C5E73"/>
                </a:solidFill>
                <a:latin typeface="Aptos"/>
              </a:rPr>
              <a:t>ЦЕЛЬ ПРОЕКТА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697480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72A3A"/>
                </a:solidFill>
                <a:latin typeface="Aptos Display"/>
              </a:rPr>
              <a:t>Создать каталог книг
с хранением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886200"/>
            <a:ext cx="4389120" cy="1508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72A3A"/>
                </a:solidFill>
                <a:latin typeface="Aptos"/>
              </a:defRPr>
            </a:pPr>
            <a:r>
              <a:t>•  Показывать книги из базы данных.</a:t>
            </a:r>
          </a:p>
          <a:p>
            <a:pPr>
              <a:spcAft>
                <a:spcPts val="900"/>
              </a:spcAft>
              <a:defRPr sz="1500">
                <a:solidFill>
                  <a:srgbClr val="172A3A"/>
                </a:solidFill>
                <a:latin typeface="Aptos"/>
              </a:defRPr>
            </a:pPr>
            <a:r>
              <a:t>•  Добавлять, искать и удалять записи.</a:t>
            </a:r>
          </a:p>
          <a:p>
            <a:pPr>
              <a:spcAft>
                <a:spcPts val="900"/>
              </a:spcAft>
              <a:defRPr sz="1500">
                <a:solidFill>
                  <a:srgbClr val="172A3A"/>
                </a:solidFill>
                <a:latin typeface="Aptos"/>
              </a:defRPr>
            </a:pPr>
            <a:r>
              <a:t>•  Продемонстрировать работу SQL-запросов.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C5E73"/>
                </a:solidFill>
                <a:latin typeface="Aptos"/>
              </a:rPr>
              <a:t>02 / ВОЗМОЖНОСТИ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2A3A"/>
                </a:solidFill>
                <a:latin typeface="Aptos Display"/>
              </a:rPr>
              <a:t>Что умеет сайт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87884"/>
                </a:solidFill>
                <a:latin typeface="Aptos"/>
              </a:rPr>
              <a:t>Управление каталогом доступно с одной страницы в браузере.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3502152" cy="3383280"/>
          </a:xfrm>
          <a:prstGeom prst="roundRect">
            <a:avLst/>
          </a:prstGeom>
          <a:solidFill>
            <a:srgbClr val="FFFEFA"/>
          </a:solidFill>
          <a:ln>
            <a:solidFill>
              <a:srgbClr val="E2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2423160"/>
            <a:ext cx="658368" cy="658368"/>
          </a:xfrm>
          <a:prstGeom prst="ellipse">
            <a:avLst/>
          </a:prstGeom>
          <a:solidFill>
            <a:srgbClr val="2C5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60604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33756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72A3A"/>
                </a:solidFill>
                <a:latin typeface="Aptos Display"/>
              </a:rPr>
              <a:t>Просмотр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977639"/>
            <a:ext cx="2944368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87884"/>
                </a:solidFill>
                <a:latin typeface="Aptos"/>
              </a:rPr>
              <a:t>Все книги отображаются в таблице: название, автор, год и жанр.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7" y="2423160"/>
            <a:ext cx="658368" cy="566928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63239" y="2587752"/>
            <a:ext cx="512064" cy="22860"/>
          </a:xfrm>
          <a:prstGeom prst="rect">
            <a:avLst/>
          </a:prstGeom>
          <a:solidFill>
            <a:srgbClr val="2C5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063239" y="2761488"/>
            <a:ext cx="512064" cy="22860"/>
          </a:xfrm>
          <a:prstGeom prst="rect">
            <a:avLst/>
          </a:prstGeom>
          <a:solidFill>
            <a:srgbClr val="2C5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80559" y="2103120"/>
            <a:ext cx="3502152" cy="3383280"/>
          </a:xfrm>
          <a:prstGeom prst="roundRect">
            <a:avLst/>
          </a:prstGeom>
          <a:solidFill>
            <a:srgbClr val="FFFEFA"/>
          </a:solidFill>
          <a:ln>
            <a:solidFill>
              <a:srgbClr val="E2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736592" y="2423160"/>
            <a:ext cx="658368" cy="658368"/>
          </a:xfrm>
          <a:prstGeom prst="ellipse">
            <a:avLst/>
          </a:prstGeom>
          <a:solidFill>
            <a:srgbClr val="D77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45736" y="260604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333756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72A3A"/>
                </a:solidFill>
                <a:latin typeface="Aptos Display"/>
              </a:rPr>
              <a:t>Поиск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3977639"/>
            <a:ext cx="2944368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87884"/>
                </a:solidFill>
                <a:latin typeface="Aptos"/>
              </a:rPr>
              <a:t>Можно найти записи по названию, автору или жанру.</a:t>
            </a:r>
          </a:p>
        </p:txBody>
      </p:sp>
      <p:sp>
        <p:nvSpPr>
          <p:cNvPr id="20" name="Oval 19"/>
          <p:cNvSpPr/>
          <p:nvPr/>
        </p:nvSpPr>
        <p:spPr>
          <a:xfrm>
            <a:off x="6912864" y="2468880"/>
            <a:ext cx="347472" cy="347472"/>
          </a:xfrm>
          <a:prstGeom prst="ellipse">
            <a:avLst/>
          </a:prstGeom>
          <a:solidFill>
            <a:srgbClr val="EDF3EF"/>
          </a:solidFill>
          <a:ln>
            <a:solidFill>
              <a:srgbClr val="2C5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7223759" y="2770632"/>
            <a:ext cx="219457" cy="219456"/>
          </a:xfrm>
          <a:prstGeom prst="line">
            <a:avLst/>
          </a:prstGeom>
          <a:ln w="38100">
            <a:solidFill>
              <a:srgbClr val="2C5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302752" y="2103120"/>
            <a:ext cx="3502152" cy="3383280"/>
          </a:xfrm>
          <a:prstGeom prst="roundRect">
            <a:avLst/>
          </a:prstGeom>
          <a:solidFill>
            <a:srgbClr val="FFFEFA"/>
          </a:solidFill>
          <a:ln>
            <a:solidFill>
              <a:srgbClr val="E2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558784" y="2423160"/>
            <a:ext cx="658368" cy="658368"/>
          </a:xfrm>
          <a:prstGeom prst="ellipse">
            <a:avLst/>
          </a:prstGeom>
          <a:solidFill>
            <a:srgbClr val="5E8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67928" y="260604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333756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72A3A"/>
                </a:solidFill>
                <a:latin typeface="Aptos Display"/>
              </a:rPr>
              <a:t>Изменение базы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7072" y="3977639"/>
            <a:ext cx="2944368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87884"/>
                </a:solidFill>
                <a:latin typeface="Aptos"/>
              </a:rPr>
              <a:t>Форма добавляет книгу в SQLite, а кнопка удаляет запись.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53344" y="2414016"/>
            <a:ext cx="429768" cy="585216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844784" y="2331720"/>
            <a:ext cx="246888" cy="118872"/>
          </a:xfrm>
          <a:prstGeom prst="rect">
            <a:avLst/>
          </a:prstGeom>
          <a:solidFill>
            <a:srgbClr val="5E8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EC794C-D8B3-F6DB-A050-AF4ECF780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47" y="504596"/>
            <a:ext cx="6564925" cy="3396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E56E94-6367-F145-A9DC-39C200C70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3959" y="4535365"/>
            <a:ext cx="7240465" cy="21834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F9B78D-D420-C739-A092-09B182635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542" y="507267"/>
            <a:ext cx="3783379" cy="11249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6FF85A-9034-4B19-67F7-BEA736D0EB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0588" y="1633171"/>
            <a:ext cx="4666519" cy="228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04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C5E73"/>
                </a:solidFill>
                <a:latin typeface="Aptos"/>
              </a:rPr>
              <a:t>03 / УСТРОЙСТВО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2A3A"/>
                </a:solidFill>
                <a:latin typeface="Aptos Display"/>
              </a:rPr>
              <a:t>Как части проекта связаны между собой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2743200" cy="2057400"/>
          </a:xfrm>
          <a:prstGeom prst="roundRect">
            <a:avLst/>
          </a:prstGeom>
          <a:solidFill>
            <a:srgbClr val="FFFEFA"/>
          </a:solidFill>
          <a:ln>
            <a:solidFill>
              <a:srgbClr val="E2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78892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172A3A"/>
                </a:solidFill>
                <a:latin typeface="Aptos Display"/>
              </a:rPr>
              <a:t>Браузер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10128"/>
            <a:ext cx="2103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87884"/>
                </a:solidFill>
                <a:latin typeface="Aptos"/>
              </a:rPr>
              <a:t>HTML + CSS
Форма и список книг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240280"/>
            <a:ext cx="2743200" cy="2057400"/>
          </a:xfrm>
          <a:prstGeom prst="roundRect">
            <a:avLst/>
          </a:prstGeom>
          <a:solidFill>
            <a:srgbClr val="CD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50655" y="2974458"/>
            <a:ext cx="222738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72A3A"/>
                </a:solidFill>
                <a:latin typeface="Aptos Display"/>
              </a:rPr>
              <a:t>Python-сервер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6279" y="3431657"/>
            <a:ext cx="2158609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687884"/>
                </a:solidFill>
                <a:latin typeface="Aptos"/>
              </a:rPr>
              <a:t>Принимает запросы
и выполняет 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2240280"/>
            <a:ext cx="2743200" cy="2057400"/>
          </a:xfrm>
          <a:prstGeom prst="roundRect">
            <a:avLst/>
          </a:prstGeom>
          <a:solidFill>
            <a:srgbClr val="FFFEFA"/>
          </a:solidFill>
          <a:ln>
            <a:solidFill>
              <a:srgbClr val="E2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13484" y="2974223"/>
            <a:ext cx="2008162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172A3A"/>
                </a:solidFill>
                <a:latin typeface="Aptos Display"/>
              </a:rPr>
              <a:t>SQLite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6609" y="3679405"/>
            <a:ext cx="200191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687884"/>
                </a:solidFill>
                <a:latin typeface="Aptos"/>
              </a:rPr>
              <a:t>Файл library.db
Таблица books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502152" y="3200400"/>
            <a:ext cx="1069848" cy="0"/>
          </a:xfrm>
          <a:prstGeom prst="line">
            <a:avLst/>
          </a:prstGeom>
          <a:ln w="31750">
            <a:solidFill>
              <a:srgbClr val="2C5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79792" y="3200400"/>
            <a:ext cx="1069848" cy="0"/>
          </a:xfrm>
          <a:prstGeom prst="line">
            <a:avLst/>
          </a:prstGeom>
          <a:ln w="31750">
            <a:solidFill>
              <a:srgbClr val="2C5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474720" y="2798064"/>
            <a:ext cx="1051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87884"/>
                </a:solidFill>
                <a:latin typeface="Aptos"/>
              </a:rPr>
              <a:t>запрос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798064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87884"/>
                </a:solidFill>
                <a:latin typeface="Aptos"/>
              </a:rPr>
              <a:t>SQL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20240" y="4892040"/>
            <a:ext cx="8321040" cy="594360"/>
          </a:xfrm>
          <a:prstGeom prst="round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48840" y="5084064"/>
            <a:ext cx="7863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D4658"/>
                </a:solidFill>
                <a:latin typeface="Aptos"/>
              </a:rPr>
              <a:t>После добавления или удаления сервер изменяет базу; обновлённый список снова виден в браузере.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C5E73"/>
                </a:solidFill>
                <a:latin typeface="Aptos"/>
              </a:rPr>
              <a:t>04 / БАЗА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2A3A"/>
                </a:solidFill>
                <a:latin typeface="Aptos Display"/>
              </a:rPr>
              <a:t>Что хранится в SQLite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87884"/>
                </a:solidFill>
                <a:latin typeface="Aptos"/>
              </a:rPr>
              <a:t>В проекте используется одна таблица — books.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2057400" cy="1097280"/>
          </a:xfrm>
          <a:prstGeom prst="roundRect">
            <a:avLst/>
          </a:prstGeom>
          <a:solidFill>
            <a:srgbClr val="FFFEFA"/>
          </a:solidFill>
          <a:ln>
            <a:solidFill>
              <a:srgbClr val="E2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011680"/>
            <a:ext cx="2057400" cy="91440"/>
          </a:xfrm>
          <a:prstGeom prst="rect">
            <a:avLst/>
          </a:prstGeom>
          <a:solidFill>
            <a:srgbClr val="2C5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249424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2A3A"/>
                </a:solidFill>
                <a:latin typeface="Aptos Display"/>
              </a:rPr>
              <a:t>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C5E73"/>
                </a:solidFill>
                <a:latin typeface="Aptos"/>
              </a:rPr>
              <a:t>INTEGER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16352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87884"/>
                </a:solidFill>
                <a:latin typeface="Aptos"/>
              </a:rPr>
              <a:t>Уникальный 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90088" y="2011680"/>
            <a:ext cx="2057400" cy="1097280"/>
          </a:xfrm>
          <a:prstGeom prst="roundRect">
            <a:avLst/>
          </a:prstGeom>
          <a:solidFill>
            <a:srgbClr val="FFFEFA"/>
          </a:solidFill>
          <a:ln>
            <a:solidFill>
              <a:srgbClr val="E2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90088" y="2011680"/>
            <a:ext cx="2057400" cy="91440"/>
          </a:xfrm>
          <a:prstGeom prst="rect">
            <a:avLst/>
          </a:prstGeom>
          <a:solidFill>
            <a:srgbClr val="D77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27248" y="2249424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2A3A"/>
                </a:solidFill>
                <a:latin typeface="Aptos Display"/>
              </a:rPr>
              <a:t>title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2578608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C5E73"/>
                </a:solidFill>
                <a:latin typeface="Aptos"/>
              </a:rPr>
              <a:t>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2816352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87884"/>
                </a:solidFill>
                <a:latin typeface="Aptos"/>
              </a:rPr>
              <a:t>Название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94376" y="2011680"/>
            <a:ext cx="2057400" cy="1097280"/>
          </a:xfrm>
          <a:prstGeom prst="roundRect">
            <a:avLst/>
          </a:prstGeom>
          <a:solidFill>
            <a:srgbClr val="FFFEFA"/>
          </a:solidFill>
          <a:ln>
            <a:solidFill>
              <a:srgbClr val="E2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294376" y="2011680"/>
            <a:ext cx="2057400" cy="91440"/>
          </a:xfrm>
          <a:prstGeom prst="rect">
            <a:avLst/>
          </a:prstGeom>
          <a:solidFill>
            <a:srgbClr val="5E8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31536" y="2249424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2A3A"/>
                </a:solidFill>
                <a:latin typeface="Aptos Display"/>
              </a:rPr>
              <a:t>author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1536" y="2578608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C5E73"/>
                </a:solidFill>
                <a:latin typeface="Aptos"/>
              </a:rPr>
              <a:t>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2816352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87884"/>
                </a:solidFill>
                <a:latin typeface="Aptos"/>
              </a:rPr>
              <a:t>Автор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98664" y="2011680"/>
            <a:ext cx="2057400" cy="1097280"/>
          </a:xfrm>
          <a:prstGeom prst="roundRect">
            <a:avLst/>
          </a:prstGeom>
          <a:solidFill>
            <a:srgbClr val="FFFEFA"/>
          </a:solidFill>
          <a:ln>
            <a:solidFill>
              <a:srgbClr val="E2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598664" y="2011680"/>
            <a:ext cx="2057400" cy="91440"/>
          </a:xfrm>
          <a:prstGeom prst="rect">
            <a:avLst/>
          </a:prstGeom>
          <a:solidFill>
            <a:srgbClr val="F6D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35824" y="2249424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2A3A"/>
                </a:solidFill>
                <a:latin typeface="Aptos Display"/>
              </a:rPr>
              <a:t>year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5824" y="2578608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C5E73"/>
                </a:solidFill>
                <a:latin typeface="Aptos"/>
              </a:rPr>
              <a:t>INTEGER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35824" y="2816352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87884"/>
                </a:solidFill>
                <a:latin typeface="Aptos"/>
              </a:rPr>
              <a:t>Год издания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02952" y="2011680"/>
            <a:ext cx="2057400" cy="1097280"/>
          </a:xfrm>
          <a:prstGeom prst="roundRect">
            <a:avLst/>
          </a:prstGeom>
          <a:solidFill>
            <a:srgbClr val="FFFEFA"/>
          </a:solidFill>
          <a:ln>
            <a:solidFill>
              <a:srgbClr val="E2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902952" y="2011680"/>
            <a:ext cx="2057400" cy="91440"/>
          </a:xfrm>
          <a:prstGeom prst="rect">
            <a:avLst/>
          </a:prstGeom>
          <a:solidFill>
            <a:srgbClr val="756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40112" y="2249424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2A3A"/>
                </a:solidFill>
                <a:latin typeface="Aptos Display"/>
              </a:rPr>
              <a:t>genre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40112" y="2578608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C5E73"/>
                </a:solidFill>
                <a:latin typeface="Aptos"/>
              </a:rPr>
              <a:t>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0112" y="2816352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87884"/>
                </a:solidFill>
                <a:latin typeface="Aptos"/>
              </a:rPr>
              <a:t>Жанр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352044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C5E73"/>
                </a:solidFill>
                <a:latin typeface="Aptos"/>
              </a:rPr>
              <a:t>ПРИМЕР ДАННЫХ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3886200"/>
            <a:ext cx="548640" cy="384048"/>
          </a:xfrm>
          <a:prstGeom prst="rect">
            <a:avLst/>
          </a:prstGeom>
          <a:solidFill>
            <a:srgbClr val="2C5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6384" y="3986784"/>
            <a:ext cx="40233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ID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61872" y="3886200"/>
            <a:ext cx="2926080" cy="384048"/>
          </a:xfrm>
          <a:prstGeom prst="rect">
            <a:avLst/>
          </a:prstGeom>
          <a:solidFill>
            <a:srgbClr val="2C5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335024" y="3986784"/>
            <a:ext cx="277977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Название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87952" y="3886200"/>
            <a:ext cx="2743200" cy="384048"/>
          </a:xfrm>
          <a:prstGeom prst="rect">
            <a:avLst/>
          </a:prstGeom>
          <a:solidFill>
            <a:srgbClr val="2C5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61104" y="3986784"/>
            <a:ext cx="25968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Автор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31152" y="3886200"/>
            <a:ext cx="1097280" cy="384048"/>
          </a:xfrm>
          <a:prstGeom prst="rect">
            <a:avLst/>
          </a:prstGeom>
          <a:solidFill>
            <a:srgbClr val="2C5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04304" y="3986784"/>
            <a:ext cx="95097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Год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28431" y="3886200"/>
            <a:ext cx="2057400" cy="384048"/>
          </a:xfrm>
          <a:prstGeom prst="rect">
            <a:avLst/>
          </a:prstGeom>
          <a:solidFill>
            <a:srgbClr val="2C5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01583" y="3986784"/>
            <a:ext cx="191109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Жанр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" y="4270248"/>
            <a:ext cx="548640" cy="438912"/>
          </a:xfrm>
          <a:prstGeom prst="rect">
            <a:avLst/>
          </a:prstGeom>
          <a:solidFill>
            <a:srgbClr val="FFFEFA"/>
          </a:solidFill>
          <a:ln>
            <a:solidFill>
              <a:srgbClr val="E2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6384" y="4389120"/>
            <a:ext cx="40233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72A3A"/>
                </a:solidFill>
                <a:latin typeface="Aptos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61872" y="4270248"/>
            <a:ext cx="2926080" cy="438912"/>
          </a:xfrm>
          <a:prstGeom prst="rect">
            <a:avLst/>
          </a:prstGeom>
          <a:solidFill>
            <a:srgbClr val="FFFEFA"/>
          </a:solidFill>
          <a:ln>
            <a:solidFill>
              <a:srgbClr val="E2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335024" y="4389120"/>
            <a:ext cx="27797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72A3A"/>
                </a:solidFill>
                <a:latin typeface="Aptos"/>
              </a:rPr>
              <a:t>Маленький принц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87952" y="4270248"/>
            <a:ext cx="2743200" cy="438912"/>
          </a:xfrm>
          <a:prstGeom prst="rect">
            <a:avLst/>
          </a:prstGeom>
          <a:solidFill>
            <a:srgbClr val="FFFEFA"/>
          </a:solidFill>
          <a:ln>
            <a:solidFill>
              <a:srgbClr val="E2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261104" y="4389120"/>
            <a:ext cx="25968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72A3A"/>
                </a:solidFill>
                <a:latin typeface="Aptos"/>
              </a:rPr>
              <a:t>Антуан де Сент-Экзюпери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31152" y="4270248"/>
            <a:ext cx="1097280" cy="438912"/>
          </a:xfrm>
          <a:prstGeom prst="rect">
            <a:avLst/>
          </a:prstGeom>
          <a:solidFill>
            <a:srgbClr val="FFFEFA"/>
          </a:solidFill>
          <a:ln>
            <a:solidFill>
              <a:srgbClr val="E2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004304" y="4389120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72A3A"/>
                </a:solidFill>
                <a:latin typeface="Aptos"/>
              </a:rPr>
              <a:t>1943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28431" y="4270248"/>
            <a:ext cx="2057400" cy="438912"/>
          </a:xfrm>
          <a:prstGeom prst="rect">
            <a:avLst/>
          </a:prstGeom>
          <a:solidFill>
            <a:srgbClr val="FFFEFA"/>
          </a:solidFill>
          <a:ln>
            <a:solidFill>
              <a:srgbClr val="E2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01583" y="4389120"/>
            <a:ext cx="191109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72A3A"/>
                </a:solidFill>
                <a:latin typeface="Aptos"/>
              </a:rPr>
              <a:t>Сказка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3232" y="4709160"/>
            <a:ext cx="548640" cy="438912"/>
          </a:xfrm>
          <a:prstGeom prst="rect">
            <a:avLst/>
          </a:prstGeom>
          <a:solidFill>
            <a:srgbClr val="EDF3EF"/>
          </a:solidFill>
          <a:ln>
            <a:solidFill>
              <a:srgbClr val="E2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86384" y="4828032"/>
            <a:ext cx="40233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72A3A"/>
                </a:solidFill>
                <a:latin typeface="Aptos"/>
              </a:rPr>
              <a:t>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61872" y="4709160"/>
            <a:ext cx="2926080" cy="438912"/>
          </a:xfrm>
          <a:prstGeom prst="rect">
            <a:avLst/>
          </a:prstGeom>
          <a:solidFill>
            <a:srgbClr val="EDF3EF"/>
          </a:solidFill>
          <a:ln>
            <a:solidFill>
              <a:srgbClr val="E2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335024" y="4828032"/>
            <a:ext cx="27797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72A3A"/>
                </a:solidFill>
                <a:latin typeface="Aptos"/>
              </a:rPr>
              <a:t>Хоббит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87952" y="4709160"/>
            <a:ext cx="2743200" cy="438912"/>
          </a:xfrm>
          <a:prstGeom prst="rect">
            <a:avLst/>
          </a:prstGeom>
          <a:solidFill>
            <a:srgbClr val="EDF3EF"/>
          </a:solidFill>
          <a:ln>
            <a:solidFill>
              <a:srgbClr val="E2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261104" y="4828032"/>
            <a:ext cx="25968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72A3A"/>
                </a:solidFill>
                <a:latin typeface="Aptos"/>
              </a:rPr>
              <a:t>Дж. Р. Р. Толкин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31152" y="4709160"/>
            <a:ext cx="1097280" cy="438912"/>
          </a:xfrm>
          <a:prstGeom prst="rect">
            <a:avLst/>
          </a:prstGeom>
          <a:solidFill>
            <a:srgbClr val="EDF3EF"/>
          </a:solidFill>
          <a:ln>
            <a:solidFill>
              <a:srgbClr val="E2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004304" y="482803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72A3A"/>
                </a:solidFill>
                <a:latin typeface="Aptos"/>
              </a:rPr>
              <a:t>1937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28431" y="4709160"/>
            <a:ext cx="2057400" cy="438912"/>
          </a:xfrm>
          <a:prstGeom prst="rect">
            <a:avLst/>
          </a:prstGeom>
          <a:solidFill>
            <a:srgbClr val="EDF3EF"/>
          </a:solidFill>
          <a:ln>
            <a:solidFill>
              <a:srgbClr val="E2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101583" y="4828032"/>
            <a:ext cx="191109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72A3A"/>
                </a:solidFill>
                <a:latin typeface="Aptos"/>
              </a:rPr>
              <a:t>Фэнтези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C4183E3-913E-AE11-9C9E-CF8B85DCF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0" y="2166938"/>
            <a:ext cx="6667500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639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2A3A"/>
                </a:solidFill>
                <a:latin typeface="Aptos Display"/>
              </a:rPr>
              <a:t>Что происходит при действии пользователя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87884"/>
                </a:solidFill>
                <a:latin typeface="Aptos"/>
              </a:rPr>
              <a:t>Один пример: добавление новой книги в каталог.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2514600" cy="2286000"/>
          </a:xfrm>
          <a:prstGeom prst="roundRect">
            <a:avLst/>
          </a:prstGeom>
          <a:solidFill>
            <a:srgbClr val="FFFEFA"/>
          </a:solidFill>
          <a:ln>
            <a:solidFill>
              <a:srgbClr val="E2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2560320"/>
            <a:ext cx="484632" cy="484632"/>
          </a:xfrm>
          <a:prstGeom prst="ellipse">
            <a:avLst/>
          </a:prstGeom>
          <a:solidFill>
            <a:srgbClr val="2C5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688336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73552"/>
            <a:ext cx="212140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2A3A"/>
                </a:solidFill>
                <a:latin typeface="Aptos Display"/>
              </a:rPr>
              <a:t>Заполнение формы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858768"/>
            <a:ext cx="2084831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884"/>
                </a:solidFill>
                <a:latin typeface="Aptos"/>
              </a:rPr>
              <a:t>Пользователь вводит название, автора, год и жанр.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27832" y="3429000"/>
            <a:ext cx="274320" cy="0"/>
          </a:xfrm>
          <a:prstGeom prst="line">
            <a:avLst/>
          </a:prstGeom>
          <a:ln w="25400">
            <a:solidFill>
              <a:srgbClr val="2C5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66160" y="2331720"/>
            <a:ext cx="2514600" cy="2286000"/>
          </a:xfrm>
          <a:prstGeom prst="roundRect">
            <a:avLst/>
          </a:prstGeom>
          <a:solidFill>
            <a:srgbClr val="FFFEFA"/>
          </a:solidFill>
          <a:ln>
            <a:solidFill>
              <a:srgbClr val="E2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767328" y="2560320"/>
            <a:ext cx="484632" cy="484632"/>
          </a:xfrm>
          <a:prstGeom prst="ellipse">
            <a:avLst/>
          </a:prstGeom>
          <a:solidFill>
            <a:srgbClr val="D77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76472" y="2688336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3273552"/>
            <a:ext cx="212140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2A3A"/>
                </a:solidFill>
                <a:latin typeface="Aptos Display"/>
              </a:rPr>
              <a:t>POST-запрос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3858768"/>
            <a:ext cx="2084831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884"/>
                </a:solidFill>
                <a:latin typeface="Aptos"/>
              </a:rPr>
              <a:t>Браузер отправляет поля на сервер Python.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08192" y="3429000"/>
            <a:ext cx="274320" cy="0"/>
          </a:xfrm>
          <a:prstGeom prst="line">
            <a:avLst/>
          </a:prstGeom>
          <a:ln w="25400">
            <a:solidFill>
              <a:srgbClr val="2C5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46520" y="2331720"/>
            <a:ext cx="2514600" cy="2286000"/>
          </a:xfrm>
          <a:prstGeom prst="roundRect">
            <a:avLst/>
          </a:prstGeom>
          <a:solidFill>
            <a:srgbClr val="FFFEFA"/>
          </a:solidFill>
          <a:ln>
            <a:solidFill>
              <a:srgbClr val="E2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647688" y="2560320"/>
            <a:ext cx="484632" cy="484632"/>
          </a:xfrm>
          <a:prstGeom prst="ellipse">
            <a:avLst/>
          </a:prstGeom>
          <a:solidFill>
            <a:srgbClr val="5E8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56832" y="2688336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3273552"/>
            <a:ext cx="212140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2A3A"/>
                </a:solidFill>
                <a:latin typeface="Aptos Display"/>
              </a:rPr>
              <a:t>Запись в SQLite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3858768"/>
            <a:ext cx="2084831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884"/>
                </a:solidFill>
                <a:latin typeface="Aptos"/>
              </a:rPr>
              <a:t>Сервер выполняет INSERT INTO books.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88552" y="3429000"/>
            <a:ext cx="274320" cy="0"/>
          </a:xfrm>
          <a:prstGeom prst="line">
            <a:avLst/>
          </a:prstGeom>
          <a:ln w="25400">
            <a:solidFill>
              <a:srgbClr val="2C5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326880" y="2331720"/>
            <a:ext cx="2514600" cy="2286000"/>
          </a:xfrm>
          <a:prstGeom prst="roundRect">
            <a:avLst/>
          </a:prstGeom>
          <a:solidFill>
            <a:srgbClr val="FFFEFA"/>
          </a:solidFill>
          <a:ln>
            <a:solidFill>
              <a:srgbClr val="E2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528048" y="2560320"/>
            <a:ext cx="484632" cy="484632"/>
          </a:xfrm>
          <a:prstGeom prst="ellipse">
            <a:avLst/>
          </a:prstGeom>
          <a:solidFill>
            <a:srgbClr val="756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37192" y="2688336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8048" y="3273552"/>
            <a:ext cx="212140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2A3A"/>
                </a:solidFill>
                <a:latin typeface="Aptos Display"/>
              </a:rPr>
              <a:t>Обновлённый список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8048" y="3858768"/>
            <a:ext cx="2084831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884"/>
                </a:solidFill>
                <a:latin typeface="Aptos"/>
              </a:rPr>
              <a:t>Браузер снова загружает страницу с новой книгой.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E6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8686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72A3A"/>
                </a:solidFill>
                <a:latin typeface="Aptos Display"/>
              </a:rPr>
              <a:t>Проект готов к демонстрации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6492240" cy="3886200"/>
          </a:xfrm>
          <a:prstGeom prst="roundRect">
            <a:avLst/>
          </a:prstGeom>
          <a:solidFill>
            <a:srgbClr val="FFFEFA"/>
          </a:solidFill>
          <a:ln>
            <a:solidFill>
              <a:srgbClr val="E2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" y="2148840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7795C"/>
                </a:solidFill>
                <a:latin typeface="Aptos"/>
              </a:rPr>
              <a:t>ПЛАН ПОКАЗА НА ПАРЕ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70048"/>
            <a:ext cx="5623560" cy="2514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172A3A"/>
                </a:solidFill>
                <a:latin typeface="Aptos"/>
              </a:defRPr>
            </a:pPr>
            <a:r>
              <a:t>•  Запустить командой  python app.py</a:t>
            </a:r>
          </a:p>
          <a:p>
            <a:pPr>
              <a:spcAft>
                <a:spcPts val="1300"/>
              </a:spcAft>
              <a:defRPr sz="1500">
                <a:solidFill>
                  <a:srgbClr val="172A3A"/>
                </a:solidFill>
                <a:latin typeface="Aptos"/>
              </a:defRPr>
            </a:pPr>
            <a:r>
              <a:t>•  Открыть  http://127.0.0.1:8000</a:t>
            </a:r>
          </a:p>
          <a:p>
            <a:pPr>
              <a:spcAft>
                <a:spcPts val="1300"/>
              </a:spcAft>
              <a:defRPr sz="1500">
                <a:solidFill>
                  <a:srgbClr val="172A3A"/>
                </a:solidFill>
                <a:latin typeface="Aptos"/>
              </a:defRPr>
            </a:pPr>
            <a:r>
              <a:t>•  Найти книгу через поиск</a:t>
            </a:r>
          </a:p>
          <a:p>
            <a:pPr>
              <a:spcAft>
                <a:spcPts val="1300"/>
              </a:spcAft>
              <a:defRPr sz="1500">
                <a:solidFill>
                  <a:srgbClr val="172A3A"/>
                </a:solidFill>
                <a:latin typeface="Aptos"/>
              </a:defRPr>
            </a:pPr>
            <a:r>
              <a:t>•  Добавить и удалить тестовую запись</a:t>
            </a:r>
          </a:p>
          <a:p>
            <a:pPr>
              <a:spcAft>
                <a:spcPts val="1300"/>
              </a:spcAft>
              <a:defRPr sz="1500">
                <a:solidFill>
                  <a:srgbClr val="172A3A"/>
                </a:solidFill>
                <a:latin typeface="Aptos"/>
              </a:defRPr>
            </a:pPr>
            <a:r>
              <a:t>•  Показать schema.sql и таблицу books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828800"/>
            <a:ext cx="3913632" cy="3886200"/>
          </a:xfrm>
          <a:prstGeom prst="roundRect">
            <a:avLst/>
          </a:prstGeom>
          <a:solidFill>
            <a:srgbClr val="2C5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09560" y="219456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DE6D9"/>
                </a:solidFill>
                <a:latin typeface="Aptos"/>
              </a:rPr>
              <a:t>РЕЗУЛЬТАТ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697480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 Display"/>
              </a:rPr>
              <a:t>Сайт +
база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7848" y="406908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DE6D9"/>
                </a:solidFill>
                <a:latin typeface="Aptos"/>
              </a:rPr>
              <a:t>Python · HTML · CSS
SQLite · 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8" y="49834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46</cp:revision>
  <dcterms:created xsi:type="dcterms:W3CDTF">2013-01-27T09:14:16Z</dcterms:created>
  <dcterms:modified xsi:type="dcterms:W3CDTF">2026-10-19T11:58:07Z</dcterms:modified>
  <cp:category/>
</cp:coreProperties>
</file>